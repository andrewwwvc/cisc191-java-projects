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23E519-9A9B-4CB6-A527-3E06E35E8DF8}" v="3405" dt="2023-09-30T01:41:09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39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77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9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2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52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9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8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0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45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68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15" name="Picture 14" descr="Vibrant multicolour checkered floor design">
            <a:extLst>
              <a:ext uri="{FF2B5EF4-FFF2-40B4-BE49-F238E27FC236}">
                <a16:creationId xmlns:a16="http://schemas.microsoft.com/office/drawing/2014/main" id="{5E74B111-3E7F-746C-9468-D9678FBD0E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98" r="-2" b="4963"/>
          <a:stretch/>
        </p:blipFill>
        <p:spPr>
          <a:xfrm>
            <a:off x="20" y="-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2B1500-BB55-471C-8A9E-67288297E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9224"/>
            <a:ext cx="6305549" cy="6328777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045E22C-A99D-41BB-AF14-EF1B1E745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525"/>
            <a:ext cx="6130391" cy="672147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4572000" cy="15240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dirty="0"/>
              <a:t>Andrew Castro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99787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3700"/>
              <a:t>Generic Collections</a:t>
            </a:r>
            <a:br>
              <a:rPr lang="en-US" sz="3700"/>
            </a:br>
            <a:r>
              <a:rPr lang="en-US" sz="3700"/>
              <a:t>&amp;</a:t>
            </a:r>
            <a:br>
              <a:rPr lang="en-US" sz="3700"/>
            </a:br>
            <a:r>
              <a:rPr lang="en-US" sz="3700"/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9AB6-EB51-61EE-5B99-4F61F2BD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48" y="188148"/>
            <a:ext cx="10668000" cy="1524000"/>
          </a:xfrm>
        </p:spPr>
        <p:txBody>
          <a:bodyPr/>
          <a:lstStyle/>
          <a:p>
            <a:r>
              <a:rPr lang="en-US" dirty="0"/>
              <a:t>Difference Between </a:t>
            </a:r>
            <a:br>
              <a:rPr lang="en-US" dirty="0"/>
            </a:br>
            <a:r>
              <a:rPr lang="en-US" dirty="0"/>
              <a:t>Array, ArrayList, LinkedList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5794A7-DE1C-E8DC-5287-D9E1108F7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421776"/>
              </p:ext>
            </p:extLst>
          </p:nvPr>
        </p:nvGraphicFramePr>
        <p:xfrm>
          <a:off x="592666" y="1740370"/>
          <a:ext cx="10668000" cy="4241573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1396596496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4249492986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878536764"/>
                    </a:ext>
                  </a:extLst>
                </a:gridCol>
              </a:tblGrid>
              <a:tr h="954748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err="1"/>
                        <a:t>ArrayList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LinkedList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792235"/>
                  </a:ext>
                </a:extLst>
              </a:tr>
              <a:tr h="3286825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An </a:t>
                      </a:r>
                      <a:r>
                        <a:rPr lang="en-US" u="sng" dirty="0"/>
                        <a:t>Array</a:t>
                      </a:r>
                      <a:r>
                        <a:rPr lang="en-US" u="none" dirty="0"/>
                        <a:t> is an ordered list of items of the same data type.</a:t>
                      </a:r>
                      <a:endParaRPr lang="en-US" dirty="0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u="none" dirty="0"/>
                        <a:t>Use an Array when you know exactly how many items are going to be stored.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dirty="0"/>
                        <a:t>Arrays has elements that correspond to its index.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dirty="0"/>
                        <a:t>Index 0 is where the first element is held.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Similarly to an array, an </a:t>
                      </a:r>
                      <a:r>
                        <a:rPr lang="en-US" u="sng" dirty="0" err="1"/>
                        <a:t>ArrayList</a:t>
                      </a:r>
                      <a:r>
                        <a:rPr lang="en-US" u="none" dirty="0"/>
                        <a:t> is like an array whose size can grow or shrink as need, unlike arrays who have a fixed size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u="none" dirty="0"/>
                        <a:t>Use an </a:t>
                      </a:r>
                      <a:r>
                        <a:rPr lang="en-US" u="none" dirty="0" err="1"/>
                        <a:t>ArrayList</a:t>
                      </a:r>
                      <a:r>
                        <a:rPr lang="en-US" u="none" dirty="0"/>
                        <a:t> when you don’t know how many items will be stored in an array.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u="none" dirty="0"/>
                        <a:t>Also, best used when needing to randomly access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A </a:t>
                      </a:r>
                      <a:r>
                        <a:rPr lang="en-US" b="0" u="sng" dirty="0"/>
                        <a:t>LinkedList</a:t>
                      </a:r>
                      <a:r>
                        <a:rPr lang="en-US" b="0" u="none" dirty="0"/>
                        <a:t> is an ordered collection of data that has a head(beginning) and tail (end).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b="0" u="none" dirty="0"/>
                        <a:t>Best used when you have ordered data, need to remove or add at the beginning or end of collection. 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b="0" u="none" dirty="0"/>
                        <a:t>Not the best at accessing random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320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55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84EA2-1202-002C-D98E-CE987B82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78" y="188148"/>
            <a:ext cx="10668000" cy="1524000"/>
          </a:xfrm>
        </p:spPr>
        <p:txBody>
          <a:bodyPr/>
          <a:lstStyle/>
          <a:p>
            <a:r>
              <a:rPr lang="en-US" dirty="0"/>
              <a:t>Difference Between</a:t>
            </a:r>
            <a:br>
              <a:rPr lang="en-US" dirty="0"/>
            </a:br>
            <a:r>
              <a:rPr lang="en-US" dirty="0"/>
              <a:t>Stack and Queue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95E619-E396-237F-65B6-92A0A2C367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901165"/>
              </p:ext>
            </p:extLst>
          </p:nvPr>
        </p:nvGraphicFramePr>
        <p:xfrm>
          <a:off x="733778" y="1524000"/>
          <a:ext cx="10668000" cy="5108221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507981104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232446066"/>
                    </a:ext>
                  </a:extLst>
                </a:gridCol>
              </a:tblGrid>
              <a:tr h="827851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Stack (LIFO)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Queue(FIFO)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60412"/>
                  </a:ext>
                </a:extLst>
              </a:tr>
              <a:tr h="4280370">
                <a:tc>
                  <a:txBody>
                    <a:bodyPr/>
                    <a:lstStyle/>
                    <a:p>
                      <a:r>
                        <a:rPr lang="en-US" dirty="0"/>
                        <a:t>-A </a:t>
                      </a:r>
                      <a:r>
                        <a:rPr lang="en-US" u="sng" dirty="0"/>
                        <a:t>Stack</a:t>
                      </a:r>
                      <a:r>
                        <a:rPr lang="en-US" u="none" dirty="0"/>
                        <a:t> is a data structure that utilizes a "Last In, First Out" system, meaning the most recently added value will be the first to be removed from stack.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u="none" dirty="0"/>
                        <a:t>Use when working with tasks that involve backtracking or in reverse order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u="none" dirty="0"/>
                        <a:t>Push to add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u="none" dirty="0"/>
                        <a:t>Pop to 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-Unlike the Stack, a </a:t>
                      </a:r>
                      <a:r>
                        <a:rPr lang="en-US" u="sng" dirty="0"/>
                        <a:t>Queue</a:t>
                      </a:r>
                      <a:r>
                        <a:rPr lang="en-US" u="none" dirty="0"/>
                        <a:t> is a data structure that utilizes a "First In, First Out" system, meaning the first value to enter is the first to be removed.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u="none" dirty="0"/>
                        <a:t>Use when working with data in given order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u="none" dirty="0"/>
                        <a:t>Add to add to queue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u="none" dirty="0"/>
                        <a:t>Remove to remove from queue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endParaRPr lang="en-US" u="none" dirty="0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endParaRPr lang="en-US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357358"/>
                  </a:ext>
                </a:extLst>
              </a:tr>
            </a:tbl>
          </a:graphicData>
        </a:graphic>
      </p:graphicFrame>
      <p:pic>
        <p:nvPicPr>
          <p:cNvPr id="5" name="Picture 4" descr="Java Stack Class Tutorial with Examples | CalliCoder">
            <a:extLst>
              <a:ext uri="{FF2B5EF4-FFF2-40B4-BE49-F238E27FC236}">
                <a16:creationId xmlns:a16="http://schemas.microsoft.com/office/drawing/2014/main" id="{6D1F824A-4BD2-ED76-E25E-BAC46F954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771" y="4735057"/>
            <a:ext cx="2395125" cy="1894036"/>
          </a:xfrm>
          <a:prstGeom prst="rect">
            <a:avLst/>
          </a:prstGeom>
        </p:spPr>
      </p:pic>
      <p:pic>
        <p:nvPicPr>
          <p:cNvPr id="6" name="Picture 5" descr="Java Queue Interface Tutorial with Examples | CalliCoder">
            <a:extLst>
              <a:ext uri="{FF2B5EF4-FFF2-40B4-BE49-F238E27FC236}">
                <a16:creationId xmlns:a16="http://schemas.microsoft.com/office/drawing/2014/main" id="{A152741B-829E-DB6E-2BB4-E57C9A2AE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993" y="5131295"/>
            <a:ext cx="3890902" cy="149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9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F81D-644A-9F7E-45EB-37931AF8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</a:t>
            </a:r>
            <a:br>
              <a:rPr lang="en-US" dirty="0"/>
            </a:br>
            <a:r>
              <a:rPr lang="en-US" dirty="0"/>
              <a:t>Array and HashTable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23A252-B8C6-7A48-9F01-4631B5099A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886428"/>
              </p:ext>
            </p:extLst>
          </p:nvPr>
        </p:nvGraphicFramePr>
        <p:xfrm>
          <a:off x="762000" y="2286000"/>
          <a:ext cx="10668000" cy="3952304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53152068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822409571"/>
                    </a:ext>
                  </a:extLst>
                </a:gridCol>
              </a:tblGrid>
              <a:tr h="1013412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err="1"/>
                        <a:t>HashTable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901111"/>
                  </a:ext>
                </a:extLst>
              </a:tr>
              <a:tr h="2938892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Arrays are useful when you need to store a fixed number of elements of the same type, access them by index and iterate them in order.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dirty="0"/>
                        <a:t>Arrays hold the same type and only one value per index.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dirty="0"/>
                        <a:t>For example, Arrays  can hold an array of strings, an array of integers, an array of characters, etc., but only one data type per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err="1"/>
                        <a:t>HashTables</a:t>
                      </a:r>
                      <a:r>
                        <a:rPr lang="en-US" dirty="0"/>
                        <a:t> are ideal when you need to store a variable number of elements of different types, access them by key and perform frequent insertions and deletions.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/>
                        <a:t>Each key can hold multiple values</a:t>
                      </a:r>
                      <a:endParaRPr lang="en-US" dirty="0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en-US" dirty="0"/>
                        <a:t>For example: </a:t>
                      </a:r>
                      <a:r>
                        <a:rPr lang="en-US" dirty="0" err="1"/>
                        <a:t>HashTable</a:t>
                      </a:r>
                      <a:r>
                        <a:rPr lang="en-US" dirty="0"/>
                        <a:t> can hold strings and integers together in one data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86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387673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RegularSeed_2SEEDS">
      <a:dk1>
        <a:srgbClr val="000000"/>
      </a:dk1>
      <a:lt1>
        <a:srgbClr val="FFFFFF"/>
      </a:lt1>
      <a:dk2>
        <a:srgbClr val="2B3A21"/>
      </a:dk2>
      <a:lt2>
        <a:srgbClr val="E2E8E5"/>
      </a:lt2>
      <a:accent1>
        <a:srgbClr val="B13B6F"/>
      </a:accent1>
      <a:accent2>
        <a:srgbClr val="C34DB2"/>
      </a:accent2>
      <a:accent3>
        <a:srgbClr val="C34D4F"/>
      </a:accent3>
      <a:accent4>
        <a:srgbClr val="7FB13B"/>
      </a:accent4>
      <a:accent5>
        <a:srgbClr val="5AB748"/>
      </a:accent5>
      <a:accent6>
        <a:srgbClr val="3BB159"/>
      </a:accent6>
      <a:hlink>
        <a:srgbClr val="319569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TF00001241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PebbleVTI</vt:lpstr>
      <vt:lpstr>Generic Collections &amp; Data Structures</vt:lpstr>
      <vt:lpstr>Difference Between  Array, ArrayList, LinkedList</vt:lpstr>
      <vt:lpstr>Difference Between Stack and Queue</vt:lpstr>
      <vt:lpstr>Difference Between Array and HashTable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200</cp:revision>
  <dcterms:created xsi:type="dcterms:W3CDTF">2023-09-30T00:33:25Z</dcterms:created>
  <dcterms:modified xsi:type="dcterms:W3CDTF">2023-09-30T01:42:56Z</dcterms:modified>
</cp:coreProperties>
</file>